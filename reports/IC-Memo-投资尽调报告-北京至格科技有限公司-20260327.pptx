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IC Memo - 北京至格科技有限公司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594360"/>
            <a:ext cx="8595360" cy="9144"/>
          </a:xfrm>
          <a:prstGeom prst="rect">
            <a:avLst/>
          </a:prstGeom>
          <a:solidFill>
            <a:srgbClr val="C8C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685800"/>
            <a:ext cx="4206240" cy="2743200"/>
          </a:xfrm>
          <a:prstGeom prst="rect">
            <a:avLst/>
          </a:prstGeom>
          <a:noFill/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8600" y="685800"/>
            <a:ext cx="4206240" cy="32004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731520"/>
            <a:ext cx="40233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企业概况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051560"/>
            <a:ext cx="3931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/>
            </a:pPr>
            <a:r>
              <a:t>企业名称: 北京至格科技有限公司</a:t>
            </a:r>
          </a:p>
          <a:p>
            <a:pPr>
              <a:spcAft>
                <a:spcPts val="400"/>
              </a:spcAft>
              <a:defRPr sz="900"/>
            </a:pPr>
            <a:r>
              <a:t>法定代表人: 孟祥峰</a:t>
            </a:r>
          </a:p>
          <a:p>
            <a:pPr>
              <a:spcAft>
                <a:spcPts val="400"/>
              </a:spcAft>
              <a:defRPr sz="900"/>
            </a:pPr>
            <a:r>
              <a:t>注册资本: 6,279.922万元</a:t>
            </a:r>
          </a:p>
          <a:p>
            <a:pPr>
              <a:spcAft>
                <a:spcPts val="400"/>
              </a:spcAft>
              <a:defRPr sz="900"/>
            </a:pPr>
            <a:r>
              <a:t>成立时间: 2019-07-04</a:t>
            </a:r>
          </a:p>
          <a:p>
            <a:pPr>
              <a:spcAft>
                <a:spcPts val="400"/>
              </a:spcAft>
              <a:defRPr sz="900"/>
            </a:pPr>
          </a:p>
          <a:p>
            <a:pPr>
              <a:spcAft>
                <a:spcPts val="400"/>
              </a:spcAft>
              <a:defRPr sz="900"/>
            </a:pPr>
            <a:r>
              <a:t>所属行业: 制造业 - AR/光学显示</a:t>
            </a:r>
          </a:p>
        </p:txBody>
      </p:sp>
      <p:sp>
        <p:nvSpPr>
          <p:cNvPr id="8" name="Rectangle 7"/>
          <p:cNvSpPr/>
          <p:nvPr/>
        </p:nvSpPr>
        <p:spPr>
          <a:xfrm>
            <a:off x="4709160" y="685800"/>
            <a:ext cx="4206240" cy="2743200"/>
          </a:xfrm>
          <a:prstGeom prst="rect">
            <a:avLst/>
          </a:prstGeom>
          <a:noFill/>
          <a:ln w="25400">
            <a:solidFill>
              <a:srgbClr val="00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09160" y="685800"/>
            <a:ext cx="4206240" cy="320040"/>
          </a:xfrm>
          <a:prstGeom prst="rect">
            <a:avLst/>
          </a:prstGeom>
          <a:solidFill>
            <a:srgbClr val="009933"/>
          </a:solidFill>
          <a:ln>
            <a:solidFill>
              <a:srgbClr val="00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00600" y="731520"/>
            <a:ext cx="40233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核心亮点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1051560"/>
            <a:ext cx="3931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/>
            </a:pPr>
          </a:p>
          <a:p>
            <a:pPr>
              <a:spcAft>
                <a:spcPts val="400"/>
              </a:spcAft>
              <a:defRPr sz="900"/>
            </a:pPr>
            <a:r>
              <a:t>技术领先 - 64件专利（36项发明专利），国内AR衍射光波导领域头部厂商</a:t>
            </a:r>
          </a:p>
          <a:p>
            <a:pPr>
              <a:spcAft>
                <a:spcPts val="400"/>
              </a:spcAft>
              <a:defRPr sz="900"/>
            </a:pPr>
            <a:r>
              <a:t>市场机遇 - AI眼镜爆发元年，已成为小米、OPPO、阿里核心供应商</a:t>
            </a:r>
          </a:p>
          <a:p>
            <a:pPr>
              <a:spcAft>
                <a:spcPts val="400"/>
              </a:spcAft>
              <a:defRPr sz="900"/>
            </a:pPr>
            <a:r>
              <a:t>量产能力 - 建成国内首条AR衍射光波导全自动产线，年交付能力百万片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3611880"/>
            <a:ext cx="4206240" cy="2926080"/>
          </a:xfrm>
          <a:prstGeom prst="rect">
            <a:avLst/>
          </a:prstGeom>
          <a:noFill/>
          <a:ln w="2540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600" y="3611880"/>
            <a:ext cx="4206240" cy="320040"/>
          </a:xfrm>
          <a:prstGeom prst="rect">
            <a:avLst/>
          </a:prstGeom>
          <a:solidFill>
            <a:srgbClr val="FF6600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3657600"/>
            <a:ext cx="40233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主要风险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977640"/>
            <a:ext cx="39319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/>
            </a:pPr>
          </a:p>
          <a:p>
            <a:pPr>
              <a:spcAft>
                <a:spcPts val="400"/>
              </a:spcAft>
              <a:defRPr sz="900">
                <a:solidFill>
                  <a:srgbClr val="FF9900"/>
                </a:solidFill>
              </a:defRPr>
            </a:pPr>
            <a:r>
              <a:t>⚠️ ⚠️ 技术路线竞争 - 衍射光波导面临Birdbath等技术竞争</a:t>
            </a:r>
          </a:p>
          <a:p>
            <a:pPr>
              <a:spcAft>
                <a:spcPts val="400"/>
              </a:spcAft>
              <a:defRPr sz="900">
                <a:solidFill>
                  <a:srgbClr val="FF9900"/>
                </a:solidFill>
              </a:defRPr>
            </a:pPr>
            <a:r>
              <a:t>⚠️ ⚠️ 客户集中 - 高度依赖小米、OPPO等头部客户</a:t>
            </a:r>
          </a:p>
          <a:p>
            <a:pPr>
              <a:spcAft>
                <a:spcPts val="400"/>
              </a:spcAft>
              <a:defRPr sz="900">
                <a:solidFill>
                  <a:srgbClr val="FF9900"/>
                </a:solidFill>
              </a:defRPr>
            </a:pPr>
            <a:r>
              <a:t>⚠️ ⚠️ 估值风险 - 本轮估值未披露，可能存在泡沫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9160" y="3611880"/>
            <a:ext cx="4206240" cy="2926080"/>
          </a:xfrm>
          <a:prstGeom prst="rect">
            <a:avLst/>
          </a:prstGeom>
          <a:noFill/>
          <a:ln w="25400">
            <a:solidFill>
              <a:srgbClr val="00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09160" y="3611880"/>
            <a:ext cx="4206240" cy="320040"/>
          </a:xfrm>
          <a:prstGeom prst="rect">
            <a:avLst/>
          </a:prstGeom>
          <a:solidFill>
            <a:srgbClr val="009933"/>
          </a:solidFill>
          <a:ln>
            <a:solidFill>
              <a:srgbClr val="00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00600" y="3657600"/>
            <a:ext cx="40233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投资建议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3977640"/>
            <a:ext cx="39319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/>
            </a:pPr>
          </a:p>
          <a:p>
            <a:pPr>
              <a:spcAft>
                <a:spcPts val="400"/>
              </a:spcAft>
              <a:defRPr sz="900">
                <a:solidFill>
                  <a:srgbClr val="009933"/>
                </a:solidFill>
              </a:defRPr>
            </a:pPr>
            <a:r>
              <a:t>✅ 推荐投资</a:t>
            </a:r>
          </a:p>
          <a:p>
            <a:pPr>
              <a:spcAft>
                <a:spcPts val="400"/>
              </a:spcAft>
              <a:defRPr sz="900"/>
            </a:pPr>
          </a:p>
          <a:p>
            <a:pPr>
              <a:spcAft>
                <a:spcPts val="400"/>
              </a:spcAft>
              <a:defRPr sz="900"/>
            </a:pPr>
            <a:r>
              <a:t>风险等级: 中</a:t>
            </a:r>
          </a:p>
          <a:p>
            <a:pPr>
              <a:spcAft>
                <a:spcPts val="400"/>
              </a:spcAft>
              <a:defRPr sz="900"/>
            </a:pPr>
          </a:p>
          <a:p>
            <a:pPr>
              <a:spcAft>
                <a:spcPts val="400"/>
              </a:spcAft>
              <a:defRPr sz="900"/>
            </a:pPr>
            <a:r>
              <a:t>建议: 设置对赌条款（2026年营收≥2亿元）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658368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08080"/>
                </a:solidFill>
              </a:defRPr>
            </a:pPr>
            <a:r>
              <a:t>数据来源: 企查查MCP | 生成时间: 2026-03-27 09:35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